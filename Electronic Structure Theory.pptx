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7"/>
  </p:notesMasterIdLst>
  <p:handoutMasterIdLst>
    <p:handoutMasterId r:id="rId18"/>
  </p:handoutMasterIdLst>
  <p:sldIdLst>
    <p:sldId id="264" r:id="rId2"/>
    <p:sldId id="269" r:id="rId3"/>
    <p:sldId id="257" r:id="rId4"/>
    <p:sldId id="265" r:id="rId5"/>
    <p:sldId id="270" r:id="rId6"/>
    <p:sldId id="271" r:id="rId7"/>
    <p:sldId id="272" r:id="rId8"/>
    <p:sldId id="262" r:id="rId9"/>
    <p:sldId id="266" r:id="rId10"/>
    <p:sldId id="261" r:id="rId11"/>
    <p:sldId id="258" r:id="rId12"/>
    <p:sldId id="259" r:id="rId13"/>
    <p:sldId id="260" r:id="rId14"/>
    <p:sldId id="267" r:id="rId15"/>
    <p:sldId id="268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7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Rocky Little" initials="RL" lastIdx="2" clrIdx="1">
    <p:extLst>
      <p:ext uri="{19B8F6BF-5375-455C-9EA6-DF929625EA0E}">
        <p15:presenceInfo xmlns:p15="http://schemas.microsoft.com/office/powerpoint/2012/main" userId="Rocky Litt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62"/>
    <a:srgbClr val="C28220"/>
    <a:srgbClr val="1D2128"/>
    <a:srgbClr val="008000"/>
    <a:srgbClr val="E09E19"/>
    <a:srgbClr val="ED4E33"/>
    <a:srgbClr val="2D637F"/>
    <a:srgbClr val="D5C711"/>
    <a:srgbClr val="EDDE1F"/>
    <a:srgbClr val="F7F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6517" autoAdjust="0"/>
  </p:normalViewPr>
  <p:slideViewPr>
    <p:cSldViewPr snapToGrid="0" snapToObjects="1">
      <p:cViewPr varScale="1">
        <p:scale>
          <a:sx n="115" d="100"/>
          <a:sy n="115" d="100"/>
        </p:scale>
        <p:origin x="690" y="108"/>
      </p:cViewPr>
      <p:guideLst>
        <p:guide orient="horz" pos="3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>
                <a:latin typeface="Lucida Grande Regular" panose="020B0600040502020204" pitchFamily="34" charset="0"/>
              </a:rPr>
              <a:t>9/22/2026</a:t>
            </a:fld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>
                <a:latin typeface="Lucida Grande Regular" panose="020B0600040502020204" pitchFamily="34" charset="0"/>
              </a:rPr>
              <a:t>‹#›</a:t>
            </a:fld>
            <a:endParaRPr lang="en-US" dirty="0">
              <a:latin typeface="Lucida Grande Regular" panose="020B0600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ucida Grande Regular" panose="020B0600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ucida Grande Regular" panose="020B0600040502020204" pitchFamily="34" charset="0"/>
              </a:defRPr>
            </a:lvl1pPr>
          </a:lstStyle>
          <a:p>
            <a:fld id="{5F53F6BF-7462-9046-A2B6-90C29244BD27}" type="datetimeFigureOut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ucida Grande Regular" panose="020B0600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ucida Grande Regular" panose="020B0600040502020204" pitchFamily="34" charset="0"/>
              </a:defRPr>
            </a:lvl1pPr>
          </a:lstStyle>
          <a:p>
            <a:fld id="{84B7DBC5-2A13-CA47-B9EE-6017A92B6B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&amp; Subtitle">
    <p:bg>
      <p:bgPr>
        <a:blipFill dpi="0" rotWithShape="1">
          <a:blip r:embed="rId2">
            <a:alphaModFix amt="8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9CCA12-0ECC-3EF2-3FC3-F9133C398266}"/>
              </a:ext>
            </a:extLst>
          </p:cNvPr>
          <p:cNvSpPr/>
          <p:nvPr/>
        </p:nvSpPr>
        <p:spPr>
          <a:xfrm>
            <a:off x="1077310" y="672662"/>
            <a:ext cx="10053145" cy="550216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255" y="2154621"/>
            <a:ext cx="9165021" cy="176479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ctr">
              <a:defRPr sz="5000" b="1">
                <a:solidFill>
                  <a:srgbClr val="C2822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2220" y="4038497"/>
            <a:ext cx="8203325" cy="53077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3CA29-F312-94B6-C8DD-4D07E7856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615" y="5043638"/>
            <a:ext cx="4876025" cy="952149"/>
          </a:xfrm>
          <a:prstGeom prst="rect">
            <a:avLst/>
          </a:prstGeom>
        </p:spPr>
      </p:pic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0AC6F3A1-EC45-658B-3733-1EABE4FB71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9254" y="1468283"/>
            <a:ext cx="9165021" cy="530773"/>
          </a:xfrm>
        </p:spPr>
        <p:txBody>
          <a:bodyPr/>
          <a:lstStyle>
            <a:lvl1pPr algn="ctr">
              <a:buNone/>
              <a:defRPr b="1">
                <a:solidFill>
                  <a:srgbClr val="00326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Programming Languages for Molecular Science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629201-40DE-897B-A72F-30DD3508F125}"/>
              </a:ext>
            </a:extLst>
          </p:cNvPr>
          <p:cNvCxnSpPr>
            <a:cxnSpLocks/>
          </p:cNvCxnSpPr>
          <p:nvPr userDrawn="1"/>
        </p:nvCxnSpPr>
        <p:spPr>
          <a:xfrm>
            <a:off x="1885416" y="1683953"/>
            <a:ext cx="914399" cy="0"/>
          </a:xfrm>
          <a:prstGeom prst="line">
            <a:avLst/>
          </a:prstGeom>
          <a:ln>
            <a:solidFill>
              <a:srgbClr val="C28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7608C5-74C4-ECA1-AC91-B452112F89F6}"/>
              </a:ext>
            </a:extLst>
          </p:cNvPr>
          <p:cNvCxnSpPr>
            <a:cxnSpLocks/>
          </p:cNvCxnSpPr>
          <p:nvPr userDrawn="1"/>
        </p:nvCxnSpPr>
        <p:spPr>
          <a:xfrm>
            <a:off x="9427412" y="1680176"/>
            <a:ext cx="914399" cy="0"/>
          </a:xfrm>
          <a:prstGeom prst="line">
            <a:avLst/>
          </a:prstGeom>
          <a:ln>
            <a:solidFill>
              <a:srgbClr val="C28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05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1737360"/>
            <a:ext cx="4278834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C2822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3472928"/>
            <a:ext cx="4019434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17189-DEBF-4A8E-A764-E34941DB9AE6}"/>
              </a:ext>
            </a:extLst>
          </p:cNvPr>
          <p:cNvSpPr txBox="1"/>
          <p:nvPr/>
        </p:nvSpPr>
        <p:spPr>
          <a:xfrm>
            <a:off x="864375" y="1147688"/>
            <a:ext cx="4271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Chem 274A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Introduction to Programming Languages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19A90D-F4BF-8656-81C8-EF304C289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75" y="4927902"/>
            <a:ext cx="4068733" cy="14802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C55050-1C04-80E4-F47E-C08CB5D519AF}"/>
              </a:ext>
            </a:extLst>
          </p:cNvPr>
          <p:cNvSpPr txBox="1"/>
          <p:nvPr userDrawn="1"/>
        </p:nvSpPr>
        <p:spPr>
          <a:xfrm>
            <a:off x="864375" y="1147688"/>
            <a:ext cx="4271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Chem 274A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Introduction to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74141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40301"/>
            <a:ext cx="9085179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000" b="1">
                <a:solidFill>
                  <a:srgbClr val="C2822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89147"/>
            <a:ext cx="8534400" cy="45664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928A7-01CD-3240-59B3-475992CD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75" y="4927902"/>
            <a:ext cx="4068733" cy="14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4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CB2B-5863-4B4D-9F4F-92228649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343"/>
            <a:ext cx="10354733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26109"/>
            <a:ext cx="10320867" cy="37151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33338-3A96-4EA6-93D5-24A3FF05D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87" y="6397934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2C6D0-7C6D-469D-AAF7-F0262D9B22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4287" y="6397933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89B69-F11E-AFEF-9EF9-75038415B3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5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CB2B-5863-4B4D-9F4F-92228649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685343"/>
            <a:ext cx="4584668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26109"/>
            <a:ext cx="4569673" cy="37151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D3226-15E2-9F03-E7FD-369E49948A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8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DD292F-23DD-4629-95BC-D1390254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729789"/>
            <a:ext cx="467127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358775"/>
            <a:ext cx="4671273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4296527"/>
            <a:ext cx="4671273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FBCAA-5508-092C-F408-148373695F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7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1E2881C-E8AA-4CC5-8C0C-92CC7E3F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685800"/>
            <a:ext cx="9952567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4" y="2097755"/>
            <a:ext cx="4957233" cy="35610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5566836" y="2097759"/>
            <a:ext cx="4995333" cy="356103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13FA-DD2E-43FB-8825-0C2D97AB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B649B-1E28-400B-9D5B-7BD973DD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9D50C-F843-C491-7C2C-B4C0F5FF4D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DD292F-23DD-4629-95BC-D1390254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4770431"/>
            <a:ext cx="10891518" cy="47875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621265"/>
            <a:ext cx="10891520" cy="4117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999" y="5266552"/>
            <a:ext cx="10891519" cy="566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9DAB-EE73-4D43-AB2E-4D1BC532F2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048C-C931-4C63-89B1-57539AE9E1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CD85F0-C324-A059-3586-C79CC3D68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1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5E5C86-5D67-4951-BE37-85F47407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041995"/>
            <a:ext cx="4011084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66737" y="1042000"/>
            <a:ext cx="6049433" cy="365700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9945E8-F6F0-4160-A21E-AE7F4910C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3B9248-F3AD-44B6-8D6B-7E8043C1B0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35B1260-EA88-464B-8C1B-6DCAE8F9F6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3" y="1566863"/>
            <a:ext cx="4011610" cy="3132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5C08C-D2FF-C0A3-4CC8-E6D50D087F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1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1740098"/>
            <a:ext cx="9085179" cy="163946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5000">
                <a:solidFill>
                  <a:srgbClr val="C2822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56B46D7-55A2-4F84-B50A-6A0615281D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09912" y="4445780"/>
            <a:ext cx="1624339" cy="14986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9579749-A13C-49D8-A808-2706172742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857749"/>
            <a:ext cx="2195512" cy="67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6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9600" y="525956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8079"/>
            <a:ext cx="109728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6012" y="5"/>
            <a:ext cx="3825989" cy="23795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73EFA2-36FA-1856-1C10-DA43BD4E5DB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66012" y="5"/>
            <a:ext cx="3825989" cy="237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1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5000" b="1" i="0" kern="1200">
          <a:solidFill>
            <a:srgbClr val="C28220"/>
          </a:solidFill>
          <a:latin typeface="+mj-lt"/>
          <a:ea typeface="+mj-ea"/>
          <a:cs typeface="FreightSans Pro Bold" panose="02000803040000020004" pitchFamily="50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asissetexchange.org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797D-D3E5-44AE-99CB-3EB8064F6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Electronic Structure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8B24C-7364-47B7-EC62-BF1AA7D9E1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10681-8B6D-7BDA-12E6-8DCF111F56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3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393987-6A4E-46BD-26C8-E2C2CEED2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3756"/>
            <a:ext cx="10320867" cy="3715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Georgia" panose="02040502050405020303" pitchFamily="18" charset="0"/>
              </a:rPr>
              <a:t>“Scientific knowledge is as much an understanding of the diversity of situations for which a theory or its models are relevant as an understanding of its limits” </a:t>
            </a:r>
          </a:p>
          <a:p>
            <a:pPr marL="0" indent="0" algn="r">
              <a:buNone/>
            </a:pPr>
            <a:br>
              <a:rPr lang="en-US" sz="2800" dirty="0"/>
            </a:br>
            <a:r>
              <a:rPr lang="en-US" sz="2800" dirty="0"/>
              <a:t>		</a:t>
            </a:r>
            <a:r>
              <a:rPr lang="en-US" sz="2800" dirty="0">
                <a:latin typeface="Georgia" panose="02040502050405020303" pitchFamily="18" charset="0"/>
              </a:rPr>
              <a:t>– Elinor Ostrom, </a:t>
            </a:r>
            <a:r>
              <a:rPr lang="en-US" sz="2800" i="1" dirty="0">
                <a:latin typeface="Georgia" panose="02040502050405020303" pitchFamily="18" charset="0"/>
              </a:rPr>
              <a:t>Governing the Commons</a:t>
            </a:r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22896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7460A4-2E77-AAD1-CC3A-C9256308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Electronic Structure Theory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D8FA30-6DE7-C829-BB62-00811A1B4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4" y="2097755"/>
            <a:ext cx="5663975" cy="3561032"/>
          </a:xfrm>
        </p:spPr>
        <p:txBody>
          <a:bodyPr/>
          <a:lstStyle/>
          <a:p>
            <a:r>
              <a:rPr lang="en-US" dirty="0"/>
              <a:t>Determination of location and structure of electrons within a molecule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8D9D21-D020-C77D-6BB0-1C2EC5F44DD2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2"/>
          <a:stretch>
            <a:fillRect/>
          </a:stretch>
        </p:blipFill>
        <p:spPr>
          <a:xfrm>
            <a:off x="7167583" y="1798875"/>
            <a:ext cx="3190424" cy="3562350"/>
          </a:xfr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45DB9CF8-AB92-779E-82FE-720CDC3609D1}"/>
              </a:ext>
            </a:extLst>
          </p:cNvPr>
          <p:cNvGrpSpPr/>
          <p:nvPr/>
        </p:nvGrpSpPr>
        <p:grpSpPr>
          <a:xfrm>
            <a:off x="927855" y="3429000"/>
            <a:ext cx="4528264" cy="1888695"/>
            <a:chOff x="426724" y="3356111"/>
            <a:chExt cx="4528264" cy="188869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036426D-8C9C-7DC0-C55C-E35A7E183274}"/>
                </a:ext>
              </a:extLst>
            </p:cNvPr>
            <p:cNvGrpSpPr/>
            <p:nvPr/>
          </p:nvGrpSpPr>
          <p:grpSpPr>
            <a:xfrm>
              <a:off x="426724" y="4129045"/>
              <a:ext cx="4528264" cy="0"/>
              <a:chOff x="426724" y="4128051"/>
              <a:chExt cx="4528264" cy="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DE31509-29FC-9094-C69B-84C7C6514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4" y="4128051"/>
                <a:ext cx="598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864B171-BE65-5044-76E0-99DE3056EE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5994" y="4128051"/>
                <a:ext cx="598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8AF208A-F2B2-1502-1F90-D0D8B3468257}"/>
                </a:ext>
              </a:extLst>
            </p:cNvPr>
            <p:cNvGrpSpPr/>
            <p:nvPr/>
          </p:nvGrpSpPr>
          <p:grpSpPr>
            <a:xfrm>
              <a:off x="2391359" y="3382617"/>
              <a:ext cx="598994" cy="1492857"/>
              <a:chOff x="2399973" y="3382617"/>
              <a:chExt cx="598994" cy="1492857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CB6BCEC-E4B9-4CDF-084D-D49533BEFC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9973" y="4875474"/>
                <a:ext cx="598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819ED7C-2182-BB15-401A-C2729654D4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9973" y="3382617"/>
                <a:ext cx="598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71E8A09-5865-480E-9AE1-3D3AF3692E5C}"/>
                </a:ext>
              </a:extLst>
            </p:cNvPr>
            <p:cNvCxnSpPr>
              <a:cxnSpLocks/>
            </p:cNvCxnSpPr>
            <p:nvPr/>
          </p:nvCxnSpPr>
          <p:spPr>
            <a:xfrm>
              <a:off x="1025718" y="4127056"/>
              <a:ext cx="1374255" cy="74841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C455DF1-8424-5FF5-99E7-6B0447D52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718" y="3382617"/>
              <a:ext cx="1374255" cy="745434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17E77E-67C5-37F1-3B3E-A7CF9F56EB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6915" y="3401557"/>
              <a:ext cx="1349079" cy="72549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21CA9B8-738F-92E8-E0DB-0A534C019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1739" y="4127056"/>
              <a:ext cx="1374255" cy="74841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7CE825-08C3-F4B2-9D8E-5DF68016F14C}"/>
                </a:ext>
              </a:extLst>
            </p:cNvPr>
            <p:cNvSpPr txBox="1"/>
            <p:nvPr/>
          </p:nvSpPr>
          <p:spPr>
            <a:xfrm>
              <a:off x="553077" y="4094658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98B1C9-9AD2-01D0-8F5A-B0BCFDBC1B8C}"/>
                </a:ext>
              </a:extLst>
            </p:cNvPr>
            <p:cNvSpPr txBox="1"/>
            <p:nvPr/>
          </p:nvSpPr>
          <p:spPr>
            <a:xfrm>
              <a:off x="4504935" y="4094790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8E61D63-F548-5933-EC4B-70E9D9D01CB4}"/>
                </a:ext>
              </a:extLst>
            </p:cNvPr>
            <p:cNvSpPr txBox="1"/>
            <p:nvPr/>
          </p:nvSpPr>
          <p:spPr>
            <a:xfrm>
              <a:off x="2518324" y="487547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800" dirty="0"/>
                <a:t>σ</a:t>
              </a:r>
              <a:endParaRPr lang="el-GR" sz="1800" dirty="0">
                <a:latin typeface="MS Shell Dlg 2" panose="020B060403050404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AB13F8-20BD-09A8-A788-7EB5CDCF98D0}"/>
                </a:ext>
              </a:extLst>
            </p:cNvPr>
            <p:cNvSpPr txBox="1"/>
            <p:nvPr/>
          </p:nvSpPr>
          <p:spPr>
            <a:xfrm>
              <a:off x="2519744" y="3356111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800" dirty="0"/>
                <a:t>σ</a:t>
              </a:r>
              <a:r>
                <a:rPr lang="en-US" sz="1800" dirty="0"/>
                <a:t>*</a:t>
              </a:r>
              <a:endParaRPr lang="el-GR" sz="1800" dirty="0">
                <a:latin typeface="MS Shell Dlg 2" panose="020B0604030504040204" pitchFamily="34" charset="0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2A2749A-E2FF-AC9E-2451-0CC500204665}"/>
                </a:ext>
              </a:extLst>
            </p:cNvPr>
            <p:cNvCxnSpPr/>
            <p:nvPr/>
          </p:nvCxnSpPr>
          <p:spPr>
            <a:xfrm flipV="1">
              <a:off x="609604" y="3742813"/>
              <a:ext cx="0" cy="3518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0FEA8B0-6340-8B1A-F195-38C3B2CAB3B0}"/>
                </a:ext>
              </a:extLst>
            </p:cNvPr>
            <p:cNvCxnSpPr/>
            <p:nvPr/>
          </p:nvCxnSpPr>
          <p:spPr>
            <a:xfrm flipV="1">
              <a:off x="2567065" y="4464123"/>
              <a:ext cx="0" cy="3518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6E797D-D60C-93EB-8480-3CB6BFBA7B2A}"/>
                </a:ext>
              </a:extLst>
            </p:cNvPr>
            <p:cNvCxnSpPr/>
            <p:nvPr/>
          </p:nvCxnSpPr>
          <p:spPr>
            <a:xfrm flipV="1">
              <a:off x="4504935" y="3725443"/>
              <a:ext cx="0" cy="3518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11ABFCA-ABB0-4385-FBA6-90012040665B}"/>
                </a:ext>
              </a:extLst>
            </p:cNvPr>
            <p:cNvCxnSpPr>
              <a:cxnSpLocks/>
            </p:cNvCxnSpPr>
            <p:nvPr/>
          </p:nvCxnSpPr>
          <p:spPr>
            <a:xfrm>
              <a:off x="2737117" y="4464122"/>
              <a:ext cx="0" cy="3518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462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8CEF-7687-8BEB-7CC1-E7361834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vs. Classical Calculations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88B662D-2B96-5B97-50B1-D2A2881041FD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2"/>
          <a:stretch>
            <a:fillRect/>
          </a:stretch>
        </p:blipFill>
        <p:spPr>
          <a:xfrm>
            <a:off x="6750424" y="1468881"/>
            <a:ext cx="5052917" cy="4931919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810E1-16D3-135A-E106-925E0CBE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A871C-C9E7-65A3-F384-2FB18C16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3431AAD-778E-60BD-361E-44A0072C5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4" y="1778372"/>
            <a:ext cx="6023952" cy="3880415"/>
          </a:xfrm>
        </p:spPr>
        <p:txBody>
          <a:bodyPr>
            <a:normAutofit/>
          </a:bodyPr>
          <a:lstStyle/>
          <a:p>
            <a:r>
              <a:rPr lang="en-US" dirty="0"/>
              <a:t>The model you choose depends on what you want to calculate</a:t>
            </a:r>
          </a:p>
          <a:p>
            <a:endParaRPr lang="en-US" dirty="0"/>
          </a:p>
          <a:p>
            <a:r>
              <a:rPr lang="en-US" dirty="0"/>
              <a:t>“All models are wrong, some are useful”</a:t>
            </a:r>
          </a:p>
          <a:p>
            <a:r>
              <a:rPr lang="en-US" dirty="0"/>
              <a:t>Classical: no electronic properties, fast</a:t>
            </a:r>
          </a:p>
          <a:p>
            <a:r>
              <a:rPr lang="en-US" dirty="0"/>
              <a:t>Quantum: more accurate, more properties, slow</a:t>
            </a:r>
          </a:p>
        </p:txBody>
      </p:sp>
    </p:spTree>
    <p:extLst>
      <p:ext uri="{BB962C8B-B14F-4D97-AF65-F5344CB8AC3E}">
        <p14:creationId xmlns:p14="http://schemas.microsoft.com/office/powerpoint/2010/main" val="413464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B312AB6-D2BF-E4C6-0C32-3F5732F4E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479" y="0"/>
            <a:ext cx="10097113" cy="605826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92D86-E4BB-7CD5-AF78-C7CB4FA5E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04113-DF66-6CBB-8E56-F09A8E77E9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697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B4740-3C82-77BA-6485-C3BCD6B4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3C8806B-0B0E-DA89-0D36-83C8ED5A4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27479" y="0"/>
            <a:ext cx="10097113" cy="605826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2860C-00D2-65B5-CA13-5F29C4817E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0957D-EBAD-0AC7-F51E-6BA0C8EC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0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8503-3F20-4336-030C-8B0FD23A3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799F0E7-23C1-0F88-74BF-B5DF814B0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27479" y="0"/>
            <a:ext cx="10097113" cy="605826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900D0-3750-1524-3245-39BBDB3295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56E24-8BF3-B128-8D4B-A05319CF52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748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2AAF-CB82-8B85-580A-C73058C8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Singlepoint</a:t>
            </a:r>
            <a:r>
              <a:rPr lang="en-US" dirty="0"/>
              <a:t> Calculations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F32C4-D21D-4B55-1E59-032116B5069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541487" y="2018247"/>
            <a:ext cx="4995333" cy="3561033"/>
          </a:xfrm>
        </p:spPr>
        <p:txBody>
          <a:bodyPr/>
          <a:lstStyle/>
          <a:p>
            <a:r>
              <a:rPr lang="en-US" dirty="0"/>
              <a:t>Calculation on a single fixed geometry</a:t>
            </a:r>
          </a:p>
          <a:p>
            <a:r>
              <a:rPr lang="en-US" dirty="0"/>
              <a:t>Electronic properties:</a:t>
            </a:r>
          </a:p>
          <a:p>
            <a:pPr lvl="1"/>
            <a:r>
              <a:rPr lang="en-US" dirty="0"/>
              <a:t>UV/Vis, IR, CD spectra</a:t>
            </a:r>
          </a:p>
          <a:p>
            <a:pPr lvl="1"/>
            <a:r>
              <a:rPr lang="en-US" dirty="0"/>
              <a:t>NMR/Magnetic susceptibility</a:t>
            </a:r>
          </a:p>
          <a:p>
            <a:pPr lvl="1"/>
            <a:r>
              <a:rPr lang="en-US" dirty="0"/>
              <a:t>Bonding information</a:t>
            </a:r>
          </a:p>
          <a:p>
            <a:pPr lvl="1"/>
            <a:r>
              <a:rPr lang="en-US" dirty="0"/>
              <a:t>Reaction energies/Transition states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5BAFF-1A1F-098D-B0FF-0356E74B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1ADA3-6DC1-3485-F636-A4C934D2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61FFF-F34B-B695-0334-D45CDFC8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25" y="3774688"/>
            <a:ext cx="2872498" cy="1992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4E9579-A701-F104-A610-7AB967FF9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51" y="1890583"/>
            <a:ext cx="2972936" cy="19927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D98A1C-343C-2D3E-3D72-00EBE4F98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65" y="1925498"/>
            <a:ext cx="2505837" cy="15035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4A445C-6A0B-426E-A5A1-A3D1FA61A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823" y="3822839"/>
            <a:ext cx="3552618" cy="199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0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913B-72E3-2DA0-CF06-944B6311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 Optimization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A17A70-6069-CFC9-78CC-150D215D72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76757" y="2366515"/>
            <a:ext cx="1638300" cy="163830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CFDA-1E27-D11A-5F1D-1105542BB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C2D91-E108-F880-12F7-FBA8E907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E16F39-FDDD-F47F-2C9A-72D926504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871" y="2472523"/>
            <a:ext cx="1400175" cy="138112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7A1DE0-EC5A-D0AD-ED73-CBA9FC8567A2}"/>
              </a:ext>
            </a:extLst>
          </p:cNvPr>
          <p:cNvCxnSpPr>
            <a:cxnSpLocks/>
          </p:cNvCxnSpPr>
          <p:nvPr/>
        </p:nvCxnSpPr>
        <p:spPr>
          <a:xfrm>
            <a:off x="4418256" y="3187700"/>
            <a:ext cx="310100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00D7061-911B-D0B3-7E1F-087CF693433C}"/>
              </a:ext>
            </a:extLst>
          </p:cNvPr>
          <p:cNvSpPr txBox="1"/>
          <p:nvPr/>
        </p:nvSpPr>
        <p:spPr>
          <a:xfrm>
            <a:off x="373559" y="4004815"/>
            <a:ext cx="40446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O  0.0000   0.0000   0.0000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H  0.0000   1.5875   0.0000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H  0.7938  -1.8521   0.0000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1F06AE-2775-F33C-2791-0537909E5C77}"/>
              </a:ext>
            </a:extLst>
          </p:cNvPr>
          <p:cNvSpPr txBox="1"/>
          <p:nvPr/>
        </p:nvSpPr>
        <p:spPr>
          <a:xfrm>
            <a:off x="7017493" y="4004815"/>
            <a:ext cx="40446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O  -0.1282  -0.1662   0.0000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H   0.3142   0.6933   0.0000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H   0.7087  -0.7918   0.0000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40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AA6D-A115-576F-1CB2-F823D5148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QM for everything?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2876E-509B-4481-2CC2-D4183152F5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Geometry optimization of this molecule took </a:t>
            </a:r>
            <a:r>
              <a:rPr lang="en-US" b="1" dirty="0"/>
              <a:t>7 hours</a:t>
            </a:r>
            <a:r>
              <a:rPr lang="en-US" dirty="0"/>
              <a:t> on two cores (psi4, </a:t>
            </a:r>
            <a:r>
              <a:rPr lang="el-GR" sz="1800" dirty="0"/>
              <a:t>ω</a:t>
            </a:r>
            <a:r>
              <a:rPr lang="en-US" sz="1800" dirty="0"/>
              <a:t>B97x/6-31G*)</a:t>
            </a:r>
          </a:p>
          <a:p>
            <a:endParaRPr lang="el-GR" sz="1800" dirty="0">
              <a:latin typeface="MS Shell Dlg 2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E9128F-417E-575E-7B03-8978268F119A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2"/>
          <a:stretch>
            <a:fillRect/>
          </a:stretch>
        </p:blipFill>
        <p:spPr>
          <a:xfrm>
            <a:off x="6368852" y="2097088"/>
            <a:ext cx="3391297" cy="356235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5A09E-2129-AF96-4661-398919DF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82941-D7B0-2460-93BC-9D8C4349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88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2DAB-5D2E-2B38-9406-BABB3D36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QM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37EE-9DEE-19F0-B399-588744609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532" y="1697599"/>
            <a:ext cx="10320867" cy="3715124"/>
          </a:xfrm>
        </p:spPr>
        <p:txBody>
          <a:bodyPr/>
          <a:lstStyle/>
          <a:p>
            <a:r>
              <a:rPr lang="en-US" i="1" dirty="0"/>
              <a:t>Molecular Orbitals</a:t>
            </a:r>
            <a:r>
              <a:rPr lang="en-US" dirty="0"/>
              <a:t> (MOs) are expanded in the basis of </a:t>
            </a:r>
            <a:r>
              <a:rPr lang="en-US" i="1" dirty="0"/>
              <a:t>Atomic Orbitals</a:t>
            </a:r>
            <a:r>
              <a:rPr lang="en-US" dirty="0"/>
              <a:t> (AOs). These AOs are defined by your </a:t>
            </a:r>
            <a:r>
              <a:rPr lang="en-US" i="1" dirty="0"/>
              <a:t>basis set</a:t>
            </a:r>
          </a:p>
          <a:p>
            <a:r>
              <a:rPr lang="en-US" dirty="0"/>
              <a:t>Your </a:t>
            </a:r>
            <a:r>
              <a:rPr lang="en-US" i="1" dirty="0"/>
              <a:t>method</a:t>
            </a:r>
            <a:r>
              <a:rPr lang="en-US" dirty="0"/>
              <a:t> defines how you are calculating those MOs (what approximations)</a:t>
            </a:r>
            <a:endParaRPr lang="en-US" i="1" dirty="0"/>
          </a:p>
          <a:p>
            <a:r>
              <a:rPr lang="en-US" dirty="0"/>
              <a:t>Combined, these are referred to as your </a:t>
            </a:r>
            <a:r>
              <a:rPr lang="en-US" i="1" dirty="0"/>
              <a:t>model</a:t>
            </a:r>
            <a:r>
              <a:rPr lang="en-US" dirty="0"/>
              <a:t>,</a:t>
            </a:r>
            <a:r>
              <a:rPr lang="en-US" i="1" dirty="0"/>
              <a:t> model chemistry</a:t>
            </a:r>
            <a:r>
              <a:rPr lang="en-US" dirty="0"/>
              <a:t>, or</a:t>
            </a:r>
            <a:r>
              <a:rPr lang="en-US" i="1" dirty="0"/>
              <a:t> level of theory</a:t>
            </a:r>
            <a:endParaRPr lang="en-US" dirty="0"/>
          </a:p>
          <a:p>
            <a:r>
              <a:rPr lang="en-US" dirty="0"/>
              <a:t>Often written together with a slash, with the method first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FC231-F6EF-9BBF-1C39-12E7BE036B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0B065-A197-A298-2289-117A7188E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5F290-BDF6-E7A1-F4D9-F292568DE6E6}"/>
              </a:ext>
            </a:extLst>
          </p:cNvPr>
          <p:cNvSpPr txBox="1"/>
          <p:nvPr/>
        </p:nvSpPr>
        <p:spPr>
          <a:xfrm>
            <a:off x="609600" y="484047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hf/sto-3g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A6FEA-D30A-C358-D503-45E1EC496D53}"/>
              </a:ext>
            </a:extLst>
          </p:cNvPr>
          <p:cNvSpPr txBox="1"/>
          <p:nvPr/>
        </p:nvSpPr>
        <p:spPr>
          <a:xfrm>
            <a:off x="2755572" y="484047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b3lyp/6-31g*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0EAA9-A3E7-596B-6937-4C37EA470E64}"/>
              </a:ext>
            </a:extLst>
          </p:cNvPr>
          <p:cNvSpPr txBox="1"/>
          <p:nvPr/>
        </p:nvSpPr>
        <p:spPr>
          <a:xfrm>
            <a:off x="8012525" y="4840472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ccsd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(t)/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-cc-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pvdz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C1B757-25F5-7A1F-E716-D57BC99C9D26}"/>
              </a:ext>
            </a:extLst>
          </p:cNvPr>
          <p:cNvSpPr txBox="1"/>
          <p:nvPr/>
        </p:nvSpPr>
        <p:spPr>
          <a:xfrm>
            <a:off x="5349239" y="484047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/def2-SVP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22761-A80D-C8CF-FCC8-F217AFB85EDE}"/>
              </a:ext>
            </a:extLst>
          </p:cNvPr>
          <p:cNvSpPr txBox="1"/>
          <p:nvPr/>
        </p:nvSpPr>
        <p:spPr>
          <a:xfrm>
            <a:off x="0" y="4523457"/>
            <a:ext cx="2427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Method (Hartree-</a:t>
            </a:r>
            <a:r>
              <a:rPr lang="en-US" sz="1600" dirty="0" err="1"/>
              <a:t>Fock</a:t>
            </a:r>
            <a:r>
              <a:rPr lang="en-US" sz="16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0AF867-50CA-F823-4223-740D9D85E786}"/>
              </a:ext>
            </a:extLst>
          </p:cNvPr>
          <p:cNvSpPr txBox="1"/>
          <p:nvPr/>
        </p:nvSpPr>
        <p:spPr>
          <a:xfrm>
            <a:off x="1476119" y="5274482"/>
            <a:ext cx="3985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Basis set</a:t>
            </a:r>
            <a:br>
              <a:rPr lang="en-US" sz="1600" dirty="0"/>
            </a:br>
            <a:r>
              <a:rPr lang="en-US" sz="1600" dirty="0"/>
              <a:t>(Slater type orbital fit with 3 gaussians)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EF5DB5-0175-73A1-96D3-024D91AD4A12}"/>
              </a:ext>
            </a:extLst>
          </p:cNvPr>
          <p:cNvCxnSpPr>
            <a:cxnSpLocks/>
          </p:cNvCxnSpPr>
          <p:nvPr/>
        </p:nvCxnSpPr>
        <p:spPr>
          <a:xfrm>
            <a:off x="446428" y="4809039"/>
            <a:ext cx="188161" cy="185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36DC3F-3F22-E19B-DD7A-CF56D401B6AC}"/>
              </a:ext>
            </a:extLst>
          </p:cNvPr>
          <p:cNvCxnSpPr>
            <a:cxnSpLocks/>
          </p:cNvCxnSpPr>
          <p:nvPr/>
        </p:nvCxnSpPr>
        <p:spPr>
          <a:xfrm flipH="1" flipV="1">
            <a:off x="1557867" y="5146937"/>
            <a:ext cx="262466" cy="201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498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DF8E-9DB0-34D8-7F88-8CC08482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416CD-1575-D8A5-2DAD-AB540071B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35695"/>
            <a:ext cx="10320867" cy="3950955"/>
          </a:xfrm>
        </p:spPr>
        <p:txBody>
          <a:bodyPr>
            <a:normAutofit/>
          </a:bodyPr>
          <a:lstStyle/>
          <a:p>
            <a:r>
              <a:rPr lang="en-US" dirty="0"/>
              <a:t>There is a zoo of methods, all with their strengths and weaknesses</a:t>
            </a:r>
          </a:p>
          <a:p>
            <a:r>
              <a:rPr lang="en-US" dirty="0"/>
              <a:t>Hartree-</a:t>
            </a:r>
            <a:r>
              <a:rPr lang="en-US" dirty="0" err="1"/>
              <a:t>Fock</a:t>
            </a:r>
            <a:r>
              <a:rPr lang="en-US" dirty="0"/>
              <a:t> (HF) – very basic, but inaccurate relative to others (lacks correlation)</a:t>
            </a:r>
          </a:p>
          <a:p>
            <a:r>
              <a:rPr lang="en-US" dirty="0" err="1"/>
              <a:t>Møller</a:t>
            </a:r>
            <a:r>
              <a:rPr lang="en-US" dirty="0"/>
              <a:t>–</a:t>
            </a:r>
            <a:r>
              <a:rPr lang="en-US" dirty="0" err="1"/>
              <a:t>Plesset</a:t>
            </a:r>
            <a:r>
              <a:rPr lang="en-US" dirty="0"/>
              <a:t> perturbation theory (MP2, </a:t>
            </a:r>
            <a:r>
              <a:rPr lang="en-US" dirty="0" err="1"/>
              <a:t>MPn</a:t>
            </a:r>
            <a:r>
              <a:rPr lang="en-US" dirty="0"/>
              <a:t>) – Adds correlation</a:t>
            </a:r>
          </a:p>
          <a:p>
            <a:r>
              <a:rPr lang="en-US" dirty="0"/>
              <a:t>Coupled Cluster (CCS, CCSD, CCSD(T)) – Very accurate, very expensive</a:t>
            </a:r>
          </a:p>
          <a:p>
            <a:r>
              <a:rPr lang="en-US" dirty="0"/>
              <a:t>Density Functional Theory (DFT) – Very good balance between accuracy and cost</a:t>
            </a:r>
          </a:p>
          <a:p>
            <a:pPr lvl="1"/>
            <a:r>
              <a:rPr lang="en-US" dirty="0"/>
              <a:t>Walter Kohn – 1998 Nobel Prize in Chemistry for the development of DFT</a:t>
            </a:r>
          </a:p>
          <a:p>
            <a:r>
              <a:rPr lang="en-US" dirty="0"/>
              <a:t>Composite methods (do several at once &amp; extrapolate)</a:t>
            </a:r>
          </a:p>
          <a:p>
            <a:r>
              <a:rPr lang="en-US" dirty="0"/>
              <a:t>And now machine learning!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9F9E1-2ADD-C095-0D83-65D321046E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BE3B8-66AF-EC5C-B5B1-D25DAD5CA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201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7C13-165D-F9F6-5A44-B702E8D0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Sets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9D0BBB-7A6F-1E34-02E9-A6DC2CA1E9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65760" y="2022938"/>
                <a:ext cx="5428211" cy="3561032"/>
              </a:xfrm>
            </p:spPr>
            <p:txBody>
              <a:bodyPr/>
              <a:lstStyle/>
              <a:p>
                <a:r>
                  <a:rPr lang="en-US" dirty="0"/>
                  <a:t>Two common types of functions in basis sets</a:t>
                </a:r>
              </a:p>
              <a:p>
                <a:r>
                  <a:rPr lang="en-US" dirty="0"/>
                  <a:t>Slater: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Gaussian: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Most atom centered codes use gaussian</a:t>
                </a:r>
              </a:p>
              <a:p>
                <a:r>
                  <a:rPr lang="en-US" i="1" dirty="0"/>
                  <a:t>In general</a:t>
                </a:r>
                <a:r>
                  <a:rPr lang="en-US" dirty="0"/>
                  <a:t>, larger basis sets are more accurate (but more expensive)</a:t>
                </a: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9D0BBB-7A6F-1E34-02E9-A6DC2CA1E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65760" y="2022938"/>
                <a:ext cx="5428211" cy="3561032"/>
              </a:xfrm>
              <a:blipFill>
                <a:blip r:embed="rId2"/>
                <a:stretch>
                  <a:fillRect l="-1236" t="-1199" r="-2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D75E172D-F241-78E2-20DD-8CB27BA3C573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3"/>
          <a:stretch>
            <a:fillRect/>
          </a:stretch>
        </p:blipFill>
        <p:spPr>
          <a:xfrm>
            <a:off x="5400868" y="1298096"/>
            <a:ext cx="6280920" cy="418727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554AA-BED6-D6D0-E5AE-4F93AC82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FB721-41FF-22D7-2089-1CDAC2BE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A13DB-DD82-9C9F-92E7-E81F78390F18}"/>
              </a:ext>
            </a:extLst>
          </p:cNvPr>
          <p:cNvSpPr txBox="1"/>
          <p:nvPr/>
        </p:nvSpPr>
        <p:spPr>
          <a:xfrm>
            <a:off x="365760" y="5292665"/>
            <a:ext cx="5727468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4"/>
              </a:rPr>
              <a:t>https://www.basissetexchange.org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0750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CAC6-2B3F-1DFE-02CC-FD524317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C249F-04F3-FDD0-0415-35661B254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3" y="1694742"/>
            <a:ext cx="5444297" cy="17990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QM, we generally only care about:</a:t>
            </a:r>
          </a:p>
          <a:p>
            <a:pPr lvl="1"/>
            <a:r>
              <a:rPr lang="en-US" dirty="0"/>
              <a:t>Element (number of protons - Z)</a:t>
            </a:r>
          </a:p>
          <a:p>
            <a:pPr lvl="1"/>
            <a:r>
              <a:rPr lang="en-US" dirty="0"/>
              <a:t>Coordinates</a:t>
            </a:r>
          </a:p>
          <a:p>
            <a:pPr lvl="1"/>
            <a:r>
              <a:rPr lang="en-US" dirty="0"/>
              <a:t>Charge &amp; multiplicity (unpaired electrons)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3B593-ECD8-A5DC-CA72-0492FAC902C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71214" y="4051782"/>
            <a:ext cx="11449571" cy="163681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O    1.548014347149      0.000000000000     0.060071441686</a:t>
            </a:r>
          </a:p>
          <a:p>
            <a:pPr marL="0" indent="0"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H    0.548241218221      0.000000000000     0.038771425885</a:t>
            </a:r>
          </a:p>
          <a:p>
            <a:pPr marL="0" indent="0"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H    1.819295099755      0.000000000000    -0.902428819751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163E4-30D1-BEE1-8715-CCB742EE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C2564-F7CD-C104-F30D-2CEF6EA2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FC7DB11-AD28-DD1D-0A30-6BBC83E8B8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8101" y="1670010"/>
                <a:ext cx="5435734" cy="14891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2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6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400" b="0" i="0" kern="1200">
                    <a:solidFill>
                      <a:schemeClr val="tx1"/>
                    </a:solidFill>
                    <a:latin typeface="FreightSans Pro Medium" panose="02000606030000020004" pitchFamily="50" charset="0"/>
                    <a:ea typeface="+mn-ea"/>
                    <a:cs typeface="FreightSans Pro Medium" panose="02000606030000020004" pitchFamily="50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Two units of distance</a:t>
                </a:r>
              </a:p>
              <a:p>
                <a:pPr lvl="1"/>
                <a:r>
                  <a:rPr lang="en-US" dirty="0"/>
                  <a:t>Angstrom (Å,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sup>
                    </m:sSup>
                  </m:oMath>
                </a14:m>
                <a:r>
                  <a:rPr lang="en-US" dirty="0"/>
                  <a:t>m)</a:t>
                </a:r>
              </a:p>
              <a:p>
                <a:pPr lvl="1"/>
                <a:r>
                  <a:rPr lang="en-US" dirty="0" err="1"/>
                  <a:t>bohr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/>
                          <m:t>5.291 772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−11</m:t>
                        </m:r>
                      </m:sup>
                    </m:sSup>
                  </m:oMath>
                </a14:m>
                <a:r>
                  <a:rPr lang="en-US" dirty="0"/>
                  <a:t>m or 0.5291772 Å)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FC7DB11-AD28-DD1D-0A30-6BBC83E8B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101" y="1670010"/>
                <a:ext cx="5435734" cy="1489161"/>
              </a:xfrm>
              <a:prstGeom prst="rect">
                <a:avLst/>
              </a:prstGeom>
              <a:blipFill>
                <a:blip r:embed="rId2"/>
                <a:stretch>
                  <a:fillRect l="-1345" t="-2869" r="-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98112FD-E192-668A-60D7-DA1D85FD6EC8}"/>
              </a:ext>
            </a:extLst>
          </p:cNvPr>
          <p:cNvSpPr txBox="1"/>
          <p:nvPr/>
        </p:nvSpPr>
        <p:spPr>
          <a:xfrm>
            <a:off x="2996770" y="3607739"/>
            <a:ext cx="60971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Bonds do not exist in the QM input world</a:t>
            </a:r>
          </a:p>
        </p:txBody>
      </p:sp>
    </p:spTree>
    <p:extLst>
      <p:ext uri="{BB962C8B-B14F-4D97-AF65-F5344CB8AC3E}">
        <p14:creationId xmlns:p14="http://schemas.microsoft.com/office/powerpoint/2010/main" val="3677260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C0F00-0382-70F8-4484-261E85BE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DB10D1E-F38E-2B1C-9999-62C83FD82C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398" y="2003265"/>
                <a:ext cx="11398981" cy="371512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main output of a </a:t>
                </a:r>
                <a:r>
                  <a:rPr lang="en-US" dirty="0" err="1"/>
                  <a:t>singlepoint</a:t>
                </a:r>
                <a:r>
                  <a:rPr lang="en-US" dirty="0"/>
                  <a:t> calculation is the total energy of the molecule.</a:t>
                </a:r>
              </a:p>
              <a:p>
                <a:r>
                  <a:rPr lang="en-US" dirty="0"/>
                  <a:t>This is defined as being relative to all nuclei and all electrons being infinitely far apart. Generally, this energy is not meaningful, but </a:t>
                </a:r>
                <a:r>
                  <a:rPr lang="en-US" i="1" dirty="0"/>
                  <a:t>relative</a:t>
                </a:r>
                <a:r>
                  <a:rPr lang="en-US" dirty="0"/>
                  <a:t> energies can be useful.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i="1" dirty="0"/>
                  <a:t>interaction energy</a:t>
                </a:r>
                <a:r>
                  <a:rPr lang="en-US" dirty="0"/>
                  <a:t> for a dimer (two molecules) is defined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US" dirty="0"/>
                  <a:t> is the energy of both molecules computed together,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 are the energies of each of the molecules computed by themselves.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DB10D1E-F38E-2B1C-9999-62C83FD82C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398" y="2003265"/>
                <a:ext cx="11398981" cy="3715124"/>
              </a:xfrm>
              <a:blipFill>
                <a:blip r:embed="rId2"/>
                <a:stretch>
                  <a:fillRect l="-588" t="-1970" r="-1283" b="-6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F9F3A-DED4-3CDC-165C-161F27635C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CB7BA-7193-FC80-7CDF-674BF18746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B48282-C8E2-9AAA-455D-55EF234B0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326" y="3167961"/>
            <a:ext cx="2590781" cy="120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733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1"/>
</p:tagLst>
</file>

<file path=ppt/theme/theme1.xml><?xml version="1.0" encoding="utf-8"?>
<a:theme xmlns:a="http://schemas.openxmlformats.org/drawingml/2006/main" name="Berkeley-MSSE">
  <a:themeElements>
    <a:clrScheme name="Custom 1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rkeley fonts">
      <a:majorFont>
        <a:latin typeface="Source Serif 4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447E171-8FB3-4FBC-8A0C-1239009F66E7}" vid="{777B9633-6487-4C53-8BE9-6F81DF3B2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slide_template</Template>
  <TotalTime>283</TotalTime>
  <Words>612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Cambria Math</vt:lpstr>
      <vt:lpstr>Courier New</vt:lpstr>
      <vt:lpstr>Georgia</vt:lpstr>
      <vt:lpstr>Inter</vt:lpstr>
      <vt:lpstr>Lucida Grande Regular</vt:lpstr>
      <vt:lpstr>MS Shell Dlg 2</vt:lpstr>
      <vt:lpstr>Source Serif 4</vt:lpstr>
      <vt:lpstr>Berkeley-MSSE</vt:lpstr>
      <vt:lpstr>Electronic Structure Theory</vt:lpstr>
      <vt:lpstr>PowerPoint Presentation</vt:lpstr>
      <vt:lpstr>What is Electronic Structure Theory</vt:lpstr>
      <vt:lpstr>Quantum vs. Classical Calculations</vt:lpstr>
      <vt:lpstr>PowerPoint Presentation</vt:lpstr>
      <vt:lpstr>PowerPoint Presentation</vt:lpstr>
      <vt:lpstr>PowerPoint Presentation</vt:lpstr>
      <vt:lpstr>Singlepoint Calculations</vt:lpstr>
      <vt:lpstr>Geometry Optimization</vt:lpstr>
      <vt:lpstr>Why not use QM for everything?</vt:lpstr>
      <vt:lpstr>QM Model Selection</vt:lpstr>
      <vt:lpstr>Method Hierarchy</vt:lpstr>
      <vt:lpstr>Basis Sets</vt:lpstr>
      <vt:lpstr>Molecules</vt:lpstr>
      <vt:lpstr>Interaction Energy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Pritchard</dc:creator>
  <cp:lastModifiedBy>Benjamin Pritchard</cp:lastModifiedBy>
  <cp:revision>8</cp:revision>
  <dcterms:created xsi:type="dcterms:W3CDTF">2026-09-22T14:37:32Z</dcterms:created>
  <dcterms:modified xsi:type="dcterms:W3CDTF">2026-09-22T22:14:53Z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E3993A2F-7A32-4D5D-8109-C84502C343A8</vt:lpwstr>
  </property>
  <property fmtid="{D5CDD505-2E9C-101B-9397-08002B2CF9AE}" pid="3" name="ArticulatePath">
    <vt:lpwstr>powerpointDeck_template</vt:lpwstr>
  </property>
</Properties>
</file>